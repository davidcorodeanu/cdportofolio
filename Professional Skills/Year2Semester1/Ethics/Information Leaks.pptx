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9" r:id="rId4"/>
  </p:sldMasterIdLst>
  <p:notesMasterIdLst>
    <p:notesMasterId r:id="rId13"/>
  </p:notesMasterIdLst>
  <p:handoutMasterIdLst>
    <p:handoutMasterId r:id="rId14"/>
  </p:handoutMasterIdLst>
  <p:sldIdLst>
    <p:sldId id="256" r:id="rId5"/>
    <p:sldId id="292" r:id="rId6"/>
    <p:sldId id="295" r:id="rId7"/>
    <p:sldId id="293" r:id="rId8"/>
    <p:sldId id="297" r:id="rId9"/>
    <p:sldId id="298" r:id="rId10"/>
    <p:sldId id="287" r:id="rId11"/>
    <p:sldId id="29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5359"/>
    <a:srgbClr val="969F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5388" autoAdjust="0"/>
  </p:normalViewPr>
  <p:slideViewPr>
    <p:cSldViewPr snapToGrid="0" showGuides="1">
      <p:cViewPr varScale="1">
        <p:scale>
          <a:sx n="78" d="100"/>
          <a:sy n="78" d="100"/>
        </p:scale>
        <p:origin x="1080" y="72"/>
      </p:cViewPr>
      <p:guideLst/>
    </p:cSldViewPr>
  </p:slideViewPr>
  <p:outlineViewPr>
    <p:cViewPr>
      <p:scale>
        <a:sx n="33" d="100"/>
        <a:sy n="33" d="100"/>
      </p:scale>
      <p:origin x="0" y="-498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C3C3A6-B337-4D83-9CDB-B9C35780FF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C79A68-3D73-4695-8C1E-3CDBCB536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97C6B7-F63D-48F8-8C65-A57506B0F13B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F5045C-A7CE-41D4-85C5-0E9ACEEF9B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ABD0F-F8EA-4B9F-8647-FC7D4AE3D8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AB78DD-9481-4863-BCCC-946573546D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0403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09A0FA-2191-4F92-A1E4-6EB4598AC4EC}" type="datetimeFigureOut">
              <a:rPr lang="en-US" smtClean="0"/>
              <a:t>12/7/2025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3359F2-43EF-4812-9DC0-98C0B1A4068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111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523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50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793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704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3359F2-43EF-4812-9DC0-98C0B1A4068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803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6615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5753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14896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61492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9155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9753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201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89077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8643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3301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3988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31937252-EACE-4232-855F-5C47E3F8B0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1070901"/>
            <a:ext cx="11265407" cy="1499616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CBA6DBC1-39A1-48A6-8B81-3CD966D06E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8055" y="3103684"/>
            <a:ext cx="11274551" cy="3287971"/>
          </a:xfrm>
          <a:solidFill>
            <a:schemeClr val="accent2"/>
          </a:solidFill>
        </p:spPr>
        <p:txBody>
          <a:bodyPr anchor="t" anchorCtr="0"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28195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26BD44-2224-46FF-A4E7-9C9FFE19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40079"/>
            <a:ext cx="3657600" cy="2100851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C87D77D-2EA4-028B-1ACF-E1120CE8F0E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7201" y="2862470"/>
            <a:ext cx="3657600" cy="3510898"/>
          </a:xfrm>
        </p:spPr>
        <p:txBody>
          <a:bodyPr anchor="t" anchorCtr="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FA45C0-9EBE-13AF-9B5D-9D5F4BF223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42815" y="640080"/>
            <a:ext cx="7491984" cy="5751576"/>
          </a:xfrm>
          <a:custGeom>
            <a:avLst/>
            <a:gdLst>
              <a:gd name="connsiteX0" fmla="*/ 3800341 w 7491984"/>
              <a:gd name="connsiteY0" fmla="*/ 0 h 5751576"/>
              <a:gd name="connsiteX1" fmla="*/ 7491984 w 7491984"/>
              <a:gd name="connsiteY1" fmla="*/ 0 h 5751576"/>
              <a:gd name="connsiteX2" fmla="*/ 7491984 w 7491984"/>
              <a:gd name="connsiteY2" fmla="*/ 5751576 h 5751576"/>
              <a:gd name="connsiteX3" fmla="*/ 3800341 w 7491984"/>
              <a:gd name="connsiteY3" fmla="*/ 5751576 h 5751576"/>
              <a:gd name="connsiteX4" fmla="*/ 0 w 7491984"/>
              <a:gd name="connsiteY4" fmla="*/ 0 h 5751576"/>
              <a:gd name="connsiteX5" fmla="*/ 3696432 w 7491984"/>
              <a:gd name="connsiteY5" fmla="*/ 0 h 5751576"/>
              <a:gd name="connsiteX6" fmla="*/ 3696432 w 7491984"/>
              <a:gd name="connsiteY6" fmla="*/ 5751576 h 5751576"/>
              <a:gd name="connsiteX7" fmla="*/ 0 w 7491984"/>
              <a:gd name="connsiteY7" fmla="*/ 5751576 h 575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91984" h="5751576">
                <a:moveTo>
                  <a:pt x="3800341" y="0"/>
                </a:moveTo>
                <a:lnTo>
                  <a:pt x="7491984" y="0"/>
                </a:lnTo>
                <a:lnTo>
                  <a:pt x="7491984" y="5751576"/>
                </a:lnTo>
                <a:lnTo>
                  <a:pt x="3800341" y="5751576"/>
                </a:lnTo>
                <a:close/>
                <a:moveTo>
                  <a:pt x="0" y="0"/>
                </a:moveTo>
                <a:lnTo>
                  <a:pt x="3696432" y="0"/>
                </a:lnTo>
                <a:lnTo>
                  <a:pt x="3696432" y="5751576"/>
                </a:lnTo>
                <a:lnTo>
                  <a:pt x="0" y="575157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5DDC5FA-EEDB-898F-533E-4094ADA899B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79B0359-4B55-D899-E584-A8E6B2ED912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B916D02-76FE-EAED-CC51-A50448811F7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4173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6882" y="629920"/>
            <a:ext cx="3606800" cy="2809240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881" y="3698240"/>
            <a:ext cx="3606800" cy="2271076"/>
          </a:xfrm>
        </p:spPr>
        <p:txBody>
          <a:bodyPr anchor="t">
            <a:no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02608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4FD2A1-D363-7C44-2A72-54E8B397D3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6720" y="650240"/>
            <a:ext cx="7518398" cy="5713918"/>
          </a:xfrm>
          <a:custGeom>
            <a:avLst/>
            <a:gdLst>
              <a:gd name="connsiteX0" fmla="*/ 3806436 w 7518398"/>
              <a:gd name="connsiteY0" fmla="*/ 4479475 h 5713918"/>
              <a:gd name="connsiteX1" fmla="*/ 7518398 w 7518398"/>
              <a:gd name="connsiteY1" fmla="*/ 4479475 h 5713918"/>
              <a:gd name="connsiteX2" fmla="*/ 7518398 w 7518398"/>
              <a:gd name="connsiteY2" fmla="*/ 5713918 h 5713918"/>
              <a:gd name="connsiteX3" fmla="*/ 3806436 w 7518398"/>
              <a:gd name="connsiteY3" fmla="*/ 5713918 h 5713918"/>
              <a:gd name="connsiteX4" fmla="*/ 0 w 7518398"/>
              <a:gd name="connsiteY4" fmla="*/ 4479475 h 5713918"/>
              <a:gd name="connsiteX5" fmla="*/ 3702527 w 7518398"/>
              <a:gd name="connsiteY5" fmla="*/ 4479475 h 5713918"/>
              <a:gd name="connsiteX6" fmla="*/ 3702527 w 7518398"/>
              <a:gd name="connsiteY6" fmla="*/ 5713918 h 5713918"/>
              <a:gd name="connsiteX7" fmla="*/ 0 w 7518398"/>
              <a:gd name="connsiteY7" fmla="*/ 5713918 h 5713918"/>
              <a:gd name="connsiteX8" fmla="*/ 3806436 w 7518398"/>
              <a:gd name="connsiteY8" fmla="*/ 0 h 5713918"/>
              <a:gd name="connsiteX9" fmla="*/ 7518398 w 7518398"/>
              <a:gd name="connsiteY9" fmla="*/ 0 h 5713918"/>
              <a:gd name="connsiteX10" fmla="*/ 7518398 w 7518398"/>
              <a:gd name="connsiteY10" fmla="*/ 4379183 h 5713918"/>
              <a:gd name="connsiteX11" fmla="*/ 3806436 w 7518398"/>
              <a:gd name="connsiteY11" fmla="*/ 4379183 h 5713918"/>
              <a:gd name="connsiteX12" fmla="*/ 0 w 7518398"/>
              <a:gd name="connsiteY12" fmla="*/ 0 h 5713918"/>
              <a:gd name="connsiteX13" fmla="*/ 3702527 w 7518398"/>
              <a:gd name="connsiteY13" fmla="*/ 0 h 5713918"/>
              <a:gd name="connsiteX14" fmla="*/ 3702527 w 7518398"/>
              <a:gd name="connsiteY14" fmla="*/ 4379183 h 5713918"/>
              <a:gd name="connsiteX15" fmla="*/ 0 w 7518398"/>
              <a:gd name="connsiteY15" fmla="*/ 4379183 h 5713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518398" h="5713918">
                <a:moveTo>
                  <a:pt x="3806436" y="4479475"/>
                </a:moveTo>
                <a:lnTo>
                  <a:pt x="7518398" y="4479475"/>
                </a:lnTo>
                <a:lnTo>
                  <a:pt x="7518398" y="5713918"/>
                </a:lnTo>
                <a:lnTo>
                  <a:pt x="3806436" y="5713918"/>
                </a:lnTo>
                <a:close/>
                <a:moveTo>
                  <a:pt x="0" y="4479475"/>
                </a:moveTo>
                <a:lnTo>
                  <a:pt x="3702527" y="4479475"/>
                </a:lnTo>
                <a:lnTo>
                  <a:pt x="3702527" y="5713918"/>
                </a:lnTo>
                <a:lnTo>
                  <a:pt x="0" y="5713918"/>
                </a:lnTo>
                <a:close/>
                <a:moveTo>
                  <a:pt x="3806436" y="0"/>
                </a:moveTo>
                <a:lnTo>
                  <a:pt x="7518398" y="0"/>
                </a:lnTo>
                <a:lnTo>
                  <a:pt x="7518398" y="4379183"/>
                </a:lnTo>
                <a:lnTo>
                  <a:pt x="3806436" y="4379183"/>
                </a:lnTo>
                <a:close/>
                <a:moveTo>
                  <a:pt x="0" y="0"/>
                </a:moveTo>
                <a:lnTo>
                  <a:pt x="3702527" y="0"/>
                </a:lnTo>
                <a:lnTo>
                  <a:pt x="3702527" y="4379183"/>
                </a:lnTo>
                <a:lnTo>
                  <a:pt x="0" y="4379183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79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9CC542F-D03C-4537-9B6E-7F653B651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878091"/>
            <a:ext cx="3729789" cy="3440485"/>
          </a:xfrm>
        </p:spPr>
        <p:txBody>
          <a:bodyPr tIns="182880" bIns="182880" anchor="ctr" anchorCtr="0">
            <a:noAutofit/>
          </a:bodyPr>
          <a:lstStyle/>
          <a:p>
            <a:r>
              <a:rPr lang="en-US" dirty="0"/>
              <a:t>Click to add title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F1D2B-CBE7-6279-2158-7A9F3B5D5C6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57200" y="670560"/>
            <a:ext cx="11267440" cy="2139696"/>
          </a:xfrm>
          <a:custGeom>
            <a:avLst/>
            <a:gdLst>
              <a:gd name="connsiteX0" fmla="*/ 3783068 w 11267440"/>
              <a:gd name="connsiteY0" fmla="*/ 0 h 2139696"/>
              <a:gd name="connsiteX1" fmla="*/ 11267440 w 11267440"/>
              <a:gd name="connsiteY1" fmla="*/ 0 h 2139696"/>
              <a:gd name="connsiteX2" fmla="*/ 11267440 w 11267440"/>
              <a:gd name="connsiteY2" fmla="*/ 2139696 h 2139696"/>
              <a:gd name="connsiteX3" fmla="*/ 3783068 w 11267440"/>
              <a:gd name="connsiteY3" fmla="*/ 2139696 h 2139696"/>
              <a:gd name="connsiteX4" fmla="*/ 0 w 11267440"/>
              <a:gd name="connsiteY4" fmla="*/ 0 h 2139696"/>
              <a:gd name="connsiteX5" fmla="*/ 3677799 w 11267440"/>
              <a:gd name="connsiteY5" fmla="*/ 0 h 2139696"/>
              <a:gd name="connsiteX6" fmla="*/ 3677799 w 11267440"/>
              <a:gd name="connsiteY6" fmla="*/ 2139696 h 2139696"/>
              <a:gd name="connsiteX7" fmla="*/ 0 w 11267440"/>
              <a:gd name="connsiteY7" fmla="*/ 2139696 h 2139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67440" h="2139696">
                <a:moveTo>
                  <a:pt x="3783068" y="0"/>
                </a:moveTo>
                <a:lnTo>
                  <a:pt x="11267440" y="0"/>
                </a:lnTo>
                <a:lnTo>
                  <a:pt x="11267440" y="2139696"/>
                </a:lnTo>
                <a:lnTo>
                  <a:pt x="3783068" y="2139696"/>
                </a:lnTo>
                <a:close/>
                <a:moveTo>
                  <a:pt x="0" y="0"/>
                </a:moveTo>
                <a:lnTo>
                  <a:pt x="3677799" y="0"/>
                </a:lnTo>
                <a:lnTo>
                  <a:pt x="3677799" y="2139696"/>
                </a:lnTo>
                <a:lnTo>
                  <a:pt x="0" y="2139696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t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35EE74D-5A60-B83C-5C2D-7B6FEA778FCB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305827" y="2878091"/>
            <a:ext cx="7418813" cy="3440485"/>
          </a:xfrm>
        </p:spPr>
        <p:txBody>
          <a:bodyPr anchor="ctr" anchorCtr="0">
            <a:normAutofit/>
          </a:bodyPr>
          <a:lstStyle>
            <a:lvl1pPr marL="283464" indent="-283464">
              <a:buFont typeface="Arial" panose="020B0604020202020204" pitchFamily="34" charset="0"/>
              <a:buChar char="•"/>
              <a:defRPr/>
            </a:lvl1pPr>
            <a:lvl2pPr marL="283464" indent="-283464">
              <a:buFont typeface="Arial" panose="020B0604020202020204" pitchFamily="34" charset="0"/>
              <a:buChar char="•"/>
              <a:defRPr/>
            </a:lvl2pPr>
            <a:lvl3pPr marL="283464" indent="-283464">
              <a:buFont typeface="Arial" panose="020B0604020202020204" pitchFamily="34" charset="0"/>
              <a:buChar char="•"/>
              <a:defRPr/>
            </a:lvl3pPr>
            <a:lvl4pPr marL="283464" indent="-283464">
              <a:buFont typeface="Arial" panose="020B0604020202020204" pitchFamily="34" charset="0"/>
              <a:buChar char="•"/>
              <a:defRPr/>
            </a:lvl4pPr>
            <a:lvl5pPr marL="283464" indent="-283464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CF1FAD-0BAD-2574-3352-B152DF76C15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EC328E41-645E-D257-FFF3-93344A8E4FA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EF9E45A-6561-C074-14CE-B3B63476D22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672130" y="6423914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5836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08219" y="741363"/>
            <a:ext cx="5626579" cy="1286219"/>
          </a:xfrm>
        </p:spPr>
        <p:txBody>
          <a:bodyPr anchor="b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FCBE840D-FAED-31D9-AF31-112670D0FA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761684"/>
            <a:ext cx="5171440" cy="5662230"/>
          </a:xfrm>
          <a:custGeom>
            <a:avLst/>
            <a:gdLst>
              <a:gd name="connsiteX0" fmla="*/ 0 w 5171440"/>
              <a:gd name="connsiteY0" fmla="*/ 5056400 h 5662230"/>
              <a:gd name="connsiteX1" fmla="*/ 3685975 w 5171440"/>
              <a:gd name="connsiteY1" fmla="*/ 5056400 h 5662230"/>
              <a:gd name="connsiteX2" fmla="*/ 3685975 w 5171440"/>
              <a:gd name="connsiteY2" fmla="*/ 5662230 h 5662230"/>
              <a:gd name="connsiteX3" fmla="*/ 0 w 5171440"/>
              <a:gd name="connsiteY3" fmla="*/ 5662230 h 5662230"/>
              <a:gd name="connsiteX4" fmla="*/ 3789884 w 5171440"/>
              <a:gd name="connsiteY4" fmla="*/ 0 h 5662230"/>
              <a:gd name="connsiteX5" fmla="*/ 5171440 w 5171440"/>
              <a:gd name="connsiteY5" fmla="*/ 0 h 5662230"/>
              <a:gd name="connsiteX6" fmla="*/ 5171440 w 5171440"/>
              <a:gd name="connsiteY6" fmla="*/ 5662230 h 5662230"/>
              <a:gd name="connsiteX7" fmla="*/ 3789884 w 5171440"/>
              <a:gd name="connsiteY7" fmla="*/ 5662230 h 5662230"/>
              <a:gd name="connsiteX8" fmla="*/ 3789884 w 5171440"/>
              <a:gd name="connsiteY8" fmla="*/ 5056400 h 5662230"/>
              <a:gd name="connsiteX9" fmla="*/ 5168980 w 5171440"/>
              <a:gd name="connsiteY9" fmla="*/ 5056400 h 5662230"/>
              <a:gd name="connsiteX10" fmla="*/ 5168980 w 5171440"/>
              <a:gd name="connsiteY10" fmla="*/ 4956108 h 5662230"/>
              <a:gd name="connsiteX11" fmla="*/ 3789884 w 5171440"/>
              <a:gd name="connsiteY11" fmla="*/ 4956108 h 5662230"/>
              <a:gd name="connsiteX12" fmla="*/ 0 w 5171440"/>
              <a:gd name="connsiteY12" fmla="*/ 0 h 5662230"/>
              <a:gd name="connsiteX13" fmla="*/ 3685975 w 5171440"/>
              <a:gd name="connsiteY13" fmla="*/ 0 h 5662230"/>
              <a:gd name="connsiteX14" fmla="*/ 3685975 w 5171440"/>
              <a:gd name="connsiteY14" fmla="*/ 4956108 h 5662230"/>
              <a:gd name="connsiteX15" fmla="*/ 0 w 5171440"/>
              <a:gd name="connsiteY15" fmla="*/ 4956108 h 5662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71440" h="5662230">
                <a:moveTo>
                  <a:pt x="0" y="5056400"/>
                </a:moveTo>
                <a:lnTo>
                  <a:pt x="3685975" y="5056400"/>
                </a:lnTo>
                <a:lnTo>
                  <a:pt x="3685975" y="5662230"/>
                </a:lnTo>
                <a:lnTo>
                  <a:pt x="0" y="5662230"/>
                </a:lnTo>
                <a:close/>
                <a:moveTo>
                  <a:pt x="3789884" y="0"/>
                </a:moveTo>
                <a:lnTo>
                  <a:pt x="5171440" y="0"/>
                </a:lnTo>
                <a:lnTo>
                  <a:pt x="5171440" y="5662230"/>
                </a:lnTo>
                <a:lnTo>
                  <a:pt x="3789884" y="5662230"/>
                </a:lnTo>
                <a:lnTo>
                  <a:pt x="3789884" y="5056400"/>
                </a:lnTo>
                <a:lnTo>
                  <a:pt x="5168980" y="5056400"/>
                </a:lnTo>
                <a:lnTo>
                  <a:pt x="5168980" y="4956108"/>
                </a:lnTo>
                <a:lnTo>
                  <a:pt x="3789884" y="4956108"/>
                </a:lnTo>
                <a:close/>
                <a:moveTo>
                  <a:pt x="0" y="0"/>
                </a:moveTo>
                <a:lnTo>
                  <a:pt x="3685975" y="0"/>
                </a:lnTo>
                <a:lnTo>
                  <a:pt x="3685975" y="4956108"/>
                </a:lnTo>
                <a:lnTo>
                  <a:pt x="0" y="4956108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22983C-26B8-DE15-E309-D0E93B8C699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06160" y="2235200"/>
            <a:ext cx="5628639" cy="4188713"/>
          </a:xfrm>
        </p:spPr>
        <p:txBody>
          <a:bodyPr anchor="t" anchorCtr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2289" y="6423914"/>
            <a:ext cx="1052510" cy="365125"/>
          </a:xfrm>
        </p:spPr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33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457D222-120F-E222-DE7E-B44B0BC1863F}"/>
              </a:ext>
            </a:extLst>
          </p:cNvPr>
          <p:cNvGrpSpPr/>
          <p:nvPr userDrawn="1"/>
        </p:nvGrpSpPr>
        <p:grpSpPr>
          <a:xfrm>
            <a:off x="428696" y="482137"/>
            <a:ext cx="11301155" cy="81191"/>
            <a:chOff x="428696" y="482137"/>
            <a:chExt cx="11301155" cy="8119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9DF259B-1168-B954-21F8-A08A3C462F3C}"/>
                </a:ext>
              </a:extLst>
            </p:cNvPr>
            <p:cNvSpPr/>
            <p:nvPr/>
          </p:nvSpPr>
          <p:spPr>
            <a:xfrm flipV="1">
              <a:off x="428696" y="482137"/>
              <a:ext cx="3703321" cy="81191"/>
            </a:xfrm>
            <a:prstGeom prst="rect">
              <a:avLst/>
            </a:prstGeom>
            <a:solidFill>
              <a:schemeClr val="accent3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B5A595C-AA3A-9D82-01BB-7810CE5F7A5E}"/>
                </a:ext>
              </a:extLst>
            </p:cNvPr>
            <p:cNvSpPr/>
            <p:nvPr/>
          </p:nvSpPr>
          <p:spPr>
            <a:xfrm flipV="1">
              <a:off x="4235926" y="482137"/>
              <a:ext cx="3703321" cy="81191"/>
            </a:xfrm>
            <a:prstGeom prst="rect">
              <a:avLst/>
            </a:prstGeom>
            <a:solidFill>
              <a:schemeClr val="accent1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178CB63-8F78-566B-8120-9DC73FB7B23B}"/>
                </a:ext>
              </a:extLst>
            </p:cNvPr>
            <p:cNvSpPr/>
            <p:nvPr/>
          </p:nvSpPr>
          <p:spPr>
            <a:xfrm flipV="1">
              <a:off x="8026530" y="482137"/>
              <a:ext cx="3703321" cy="81191"/>
            </a:xfrm>
            <a:prstGeom prst="rect">
              <a:avLst/>
            </a:prstGeom>
            <a:solidFill>
              <a:schemeClr val="accent4"/>
            </a:solidFill>
            <a:ln w="539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910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0" r:id="rId1"/>
    <p:sldLayoutId id="2147483801" r:id="rId2"/>
    <p:sldLayoutId id="2147483802" r:id="rId3"/>
    <p:sldLayoutId id="2147483803" r:id="rId4"/>
    <p:sldLayoutId id="2147483804" r:id="rId5"/>
    <p:sldLayoutId id="2147483805" r:id="rId6"/>
    <p:sldLayoutId id="2147483806" r:id="rId7"/>
    <p:sldLayoutId id="2147483807" r:id="rId8"/>
    <p:sldLayoutId id="2147483808" r:id="rId9"/>
    <p:sldLayoutId id="2147483809" r:id="rId10"/>
    <p:sldLayoutId id="2147483810" r:id="rId11"/>
    <p:sldLayoutId id="2147483811" r:id="rId12"/>
    <p:sldLayoutId id="2147483812" r:id="rId13"/>
    <p:sldLayoutId id="2147483814" r:id="rId14"/>
    <p:sldLayoutId id="2147483815" r:id="rId15"/>
    <p:sldLayoutId id="2147483818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79F0267-9D1C-BDA9-A152-B01CD379FC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sz="5400" b="1" dirty="0"/>
              <a:t>Information Leaks</a:t>
            </a:r>
            <a:endParaRPr lang="en-US" sz="5400" b="1" dirty="0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83593212-9C97-EBC6-DD21-A3E706A402D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1229" b="11229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59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23E1E4-7CB2-923B-9D41-672CB85E0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46788"/>
            <a:ext cx="3657600" cy="2100851"/>
          </a:xfrm>
        </p:spPr>
        <p:txBody>
          <a:bodyPr/>
          <a:lstStyle/>
          <a:p>
            <a:r>
              <a:rPr lang="en-US" sz="4000" b="1" dirty="0"/>
              <a:t>Agenda</a:t>
            </a:r>
            <a:r>
              <a:rPr lang="en-US" dirty="0"/>
              <a:t>	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A667A9A-3428-68BE-D555-0DE1859FD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1" y="2559538"/>
            <a:ext cx="4144296" cy="3510898"/>
          </a:xfrm>
        </p:spPr>
        <p:txBody>
          <a:bodyPr>
            <a:normAutofit fontScale="92500" lnSpcReduction="10000"/>
          </a:bodyPr>
          <a:lstStyle/>
          <a:p>
            <a:r>
              <a:rPr lang="hu-HU" sz="2400" dirty="0"/>
              <a:t>Introduction</a:t>
            </a:r>
            <a:endParaRPr lang="en-US" sz="2400" dirty="0"/>
          </a:p>
          <a:p>
            <a:r>
              <a:rPr lang="hu-HU" sz="2400" dirty="0"/>
              <a:t>Types of Information Leaks</a:t>
            </a:r>
            <a:endParaRPr lang="en-US" sz="2400" dirty="0"/>
          </a:p>
          <a:p>
            <a:r>
              <a:rPr lang="hu-HU" sz="2400" dirty="0"/>
              <a:t>Real-world examples</a:t>
            </a:r>
          </a:p>
          <a:p>
            <a:r>
              <a:rPr lang="hu-HU" sz="2400" dirty="0"/>
              <a:t>Facebook-Cambridge Analytica Leaks</a:t>
            </a:r>
            <a:endParaRPr lang="en-US" sz="2400" dirty="0"/>
          </a:p>
          <a:p>
            <a:r>
              <a:rPr lang="hu-HU" sz="2400" dirty="0"/>
              <a:t>Ethical responsibilities</a:t>
            </a:r>
          </a:p>
          <a:p>
            <a:r>
              <a:rPr lang="hu-HU" sz="2400" dirty="0"/>
              <a:t>Prevention</a:t>
            </a:r>
            <a:endParaRPr lang="en-US" sz="2400" dirty="0"/>
          </a:p>
          <a:p>
            <a:r>
              <a:rPr lang="hu-HU" sz="2400" dirty="0"/>
              <a:t>Conclusion</a:t>
            </a:r>
            <a:endParaRPr lang="en-US" sz="2400" dirty="0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511E5895-0C45-4742-FEAA-02619E922EA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73" r="1373"/>
          <a:stretch>
            <a:fillRect/>
          </a:stretch>
        </p:blipFill>
        <p:spPr>
          <a:xfrm>
            <a:off x="4222795" y="787564"/>
            <a:ext cx="7708814" cy="591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2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66CF7-69F4-F432-4747-28EF15528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5639" y="650240"/>
            <a:ext cx="3981081" cy="2416277"/>
          </a:xfrm>
        </p:spPr>
        <p:txBody>
          <a:bodyPr/>
          <a:lstStyle/>
          <a:p>
            <a:r>
              <a:rPr lang="hu-HU" sz="3600" b="1" dirty="0"/>
              <a:t>Types of information leaks</a:t>
            </a:r>
            <a:endParaRPr lang="en-US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82E89-DB15-6D26-7098-DA9792B0B0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01" y="3293806"/>
            <a:ext cx="3981081" cy="2311717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2000" dirty="0"/>
              <a:t>Data breaches (hackers steal passwords/emails)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2000" dirty="0"/>
              <a:t>Insider leaks (employees leak information)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2000" dirty="0"/>
              <a:t>Misconfigured systems (databases left public)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hu-HU" sz="2000" dirty="0"/>
              <a:t>Human error (sending information to the wrong people)</a:t>
            </a:r>
            <a:endParaRPr lang="en-US" sz="20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FE5462B-75E1-052C-9E98-0DDAC13C5C9D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5567" r="15567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0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618A4-5020-A570-BAAC-71C22849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437" y="2917420"/>
            <a:ext cx="3729789" cy="3440485"/>
          </a:xfrm>
        </p:spPr>
        <p:txBody>
          <a:bodyPr/>
          <a:lstStyle/>
          <a:p>
            <a:r>
              <a:rPr lang="hu-HU" sz="3600" b="1" dirty="0"/>
              <a:t>Real-world examples</a:t>
            </a:r>
            <a:endParaRPr lang="en-US" sz="3600" b="1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9475E86-FFB0-87BC-084C-C72891615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31226" y="3363814"/>
            <a:ext cx="8357418" cy="3687096"/>
          </a:xfrm>
        </p:spPr>
        <p:txBody>
          <a:bodyPr/>
          <a:lstStyle/>
          <a:p>
            <a:r>
              <a:rPr lang="hu-HU" sz="2000" dirty="0"/>
              <a:t>Facebook-Cambridge Analytica – leaked personal data of 87 million users</a:t>
            </a:r>
          </a:p>
          <a:p>
            <a:r>
              <a:rPr lang="hu-HU" sz="2000" dirty="0"/>
              <a:t>Sony Pictures hack – leaked company emails and movies</a:t>
            </a:r>
          </a:p>
          <a:p>
            <a:endParaRPr lang="hu-HU" sz="2000" dirty="0"/>
          </a:p>
          <a:p>
            <a:pPr marL="0" indent="0">
              <a:buNone/>
            </a:pPr>
            <a:r>
              <a:rPr lang="hu-HU" sz="2000" dirty="0"/>
              <a:t>Why was it wrong?</a:t>
            </a:r>
          </a:p>
          <a:p>
            <a:r>
              <a:rPr lang="hu-HU" sz="2000" dirty="0"/>
              <a:t>Violated user trust</a:t>
            </a:r>
          </a:p>
          <a:p>
            <a:r>
              <a:rPr lang="hu-HU" sz="2000" dirty="0"/>
              <a:t>Showed lack of security</a:t>
            </a:r>
          </a:p>
          <a:p>
            <a:r>
              <a:rPr lang="hu-HU" sz="2000" dirty="0"/>
              <a:t>Huge impact on people</a:t>
            </a:r>
          </a:p>
          <a:p>
            <a:endParaRPr lang="hu-HU" dirty="0"/>
          </a:p>
          <a:p>
            <a:endParaRPr lang="en-US" dirty="0"/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35D47B87-AEA4-72BA-D4A0-4168B9139A85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3"/>
          <a:srcRect t="25625" b="25625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2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EFE2F-55A8-0B88-14E1-B54C85925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857" y="933450"/>
            <a:ext cx="3460014" cy="1722419"/>
          </a:xfrm>
        </p:spPr>
        <p:txBody>
          <a:bodyPr>
            <a:normAutofit fontScale="90000"/>
          </a:bodyPr>
          <a:lstStyle/>
          <a:p>
            <a:r>
              <a:rPr lang="hu-HU" sz="2800" b="1" dirty="0"/>
              <a:t>Facebook-Cambridge Analytica leak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A71D8-F418-90C2-4C7A-F5F028E74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8635" y="1297816"/>
            <a:ext cx="6650991" cy="4658216"/>
          </a:xfrm>
        </p:spPr>
        <p:txBody>
          <a:bodyPr>
            <a:normAutofit fontScale="92500" lnSpcReduction="20000"/>
          </a:bodyPr>
          <a:lstStyle/>
          <a:p>
            <a:r>
              <a:rPr lang="hu-HU" sz="2800" dirty="0"/>
              <a:t>What happened?</a:t>
            </a:r>
          </a:p>
          <a:p>
            <a:pPr lvl="1"/>
            <a:r>
              <a:rPr lang="hu-HU" sz="2600" dirty="0"/>
              <a:t>It got exposed that facebook allowed Cambridge Analytica to collect millions of user profiles</a:t>
            </a:r>
          </a:p>
          <a:p>
            <a:r>
              <a:rPr lang="hu-HU" sz="2800" dirty="0"/>
              <a:t>What did it reveal?</a:t>
            </a:r>
          </a:p>
          <a:p>
            <a:pPr lvl="1"/>
            <a:r>
              <a:rPr lang="hu-HU" sz="2400" dirty="0"/>
              <a:t>Massive data misuse</a:t>
            </a:r>
          </a:p>
          <a:p>
            <a:pPr lvl="1"/>
            <a:r>
              <a:rPr lang="hu-HU" sz="2400" dirty="0"/>
              <a:t>Influence of elections using personal data </a:t>
            </a:r>
          </a:p>
          <a:p>
            <a:r>
              <a:rPr lang="hu-HU" sz="2800" dirty="0"/>
              <a:t>Impact</a:t>
            </a:r>
          </a:p>
          <a:p>
            <a:pPr lvl="1"/>
            <a:r>
              <a:rPr lang="hu-HU" sz="2400" dirty="0"/>
              <a:t>US and EU started new privacy laws</a:t>
            </a:r>
          </a:p>
          <a:p>
            <a:pPr lvl="1"/>
            <a:r>
              <a:rPr lang="hu-HU" sz="2400" dirty="0"/>
              <a:t>Facebook got multi-billion dollar fines</a:t>
            </a:r>
          </a:p>
          <a:p>
            <a:pPr lvl="1"/>
            <a:r>
              <a:rPr lang="hu-HU" sz="2400" dirty="0"/>
              <a:t>Big changes in how apps can access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A946C-33EE-9B7E-136A-605865D27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300153" y="3257567"/>
            <a:ext cx="1284259" cy="140065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2050" name="Picture 2" descr="Facebook Is Weaker Than We Knew - The New York Times">
            <a:extLst>
              <a:ext uri="{FF2B5EF4-FFF2-40B4-BE49-F238E27FC236}">
                <a16:creationId xmlns:a16="http://schemas.microsoft.com/office/drawing/2014/main" id="{343E88F1-0D20-1125-57AF-4F0BDB43B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288" y="2927476"/>
            <a:ext cx="317373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25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7736-C389-454A-3BCB-F6FB8F1EF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4000" b="1" dirty="0"/>
              <a:t>Ethical responsibilities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0ABE4-703D-D5B4-35F5-94950C476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90876"/>
            <a:ext cx="11029615" cy="3634486"/>
          </a:xfrm>
        </p:spPr>
        <p:txBody>
          <a:bodyPr>
            <a:normAutofit/>
          </a:bodyPr>
          <a:lstStyle/>
          <a:p>
            <a:r>
              <a:rPr lang="hu-HU" sz="2800" dirty="0"/>
              <a:t>Protect personal information with privacy, fairness and transparency</a:t>
            </a:r>
          </a:p>
          <a:p>
            <a:r>
              <a:rPr lang="hu-HU" sz="2800" dirty="0"/>
              <a:t>Ensure accountability in handling cybersecurity incidents</a:t>
            </a:r>
          </a:p>
          <a:p>
            <a:r>
              <a:rPr lang="hu-HU" sz="2800" dirty="0"/>
              <a:t>Disclose vulnerabilities and support affected cosumers</a:t>
            </a:r>
          </a:p>
          <a:p>
            <a:r>
              <a:rPr lang="hu-HU" sz="2800" dirty="0"/>
              <a:t>Go beyond legal conpliance: treat data privacy as an ethical responsibility</a:t>
            </a:r>
          </a:p>
          <a:p>
            <a:r>
              <a:rPr lang="hu-HU" sz="2800" dirty="0"/>
              <a:t>Build trust through transparency and responsible practices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10630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E6C8E6EB-4C59-429B-97E4-72A058CFC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5B90362-AFCC-46A9-B41C-A257A8C5B3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71EF7F1-38BA-471D-8CD4-2A9AE8E35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Title 25">
            <a:extLst>
              <a:ext uri="{FF2B5EF4-FFF2-40B4-BE49-F238E27FC236}">
                <a16:creationId xmlns:a16="http://schemas.microsoft.com/office/drawing/2014/main" id="{D715DBBC-70C2-E94B-9B03-12910F0B5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2" y="702156"/>
            <a:ext cx="11029616" cy="11887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Prevention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A4CA679-3546-4E14-8FB8-F57168C37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4D16E90-7C64-4C04-A50A-B866A1A92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BE4DD59-5AA2-46C6-B6A8-9B4C62D19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60CE81C-67DC-489E-BFFB-877C8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2180496"/>
            <a:ext cx="5404639" cy="4045683"/>
          </a:xfrm>
          <a:prstGeom prst="rect">
            <a:avLst/>
          </a:prstGeom>
          <a:solidFill>
            <a:srgbClr val="FFFFFF">
              <a:alpha val="80000"/>
            </a:srgbClr>
          </a:solidFill>
          <a:ln w="38100">
            <a:solidFill>
              <a:srgbClr val="4653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E9CF2C84-5E73-9630-C841-0C67256814E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198" r="13667"/>
          <a:stretch>
            <a:fillRect/>
          </a:stretch>
        </p:blipFill>
        <p:spPr>
          <a:xfrm>
            <a:off x="611392" y="2347105"/>
            <a:ext cx="5074920" cy="3712464"/>
          </a:xfrm>
          <a:prstGeom prst="rect">
            <a:avLst/>
          </a:prstGeom>
        </p:spPr>
      </p:pic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D3AEB1C4-FB60-9B8E-5A02-0BCD2B6E5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2842" y="2347105"/>
            <a:ext cx="5851170" cy="36344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Strong password/2 Factor Authentication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Proper encryption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Employee training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Regular security checks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 collecting unneccessary data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Reporting leaks quickly</a:t>
            </a:r>
          </a:p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Testing </a:t>
            </a:r>
          </a:p>
        </p:txBody>
      </p:sp>
    </p:spTree>
    <p:extLst>
      <p:ext uri="{BB962C8B-B14F-4D97-AF65-F5344CB8AC3E}">
        <p14:creationId xmlns:p14="http://schemas.microsoft.com/office/powerpoint/2010/main" val="3854442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9C5CE-BF58-320A-BDC6-DF2E482C2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76" y="3070122"/>
            <a:ext cx="10318248" cy="717755"/>
          </a:xfrm>
        </p:spPr>
        <p:txBody>
          <a:bodyPr>
            <a:noAutofit/>
          </a:bodyPr>
          <a:lstStyle/>
          <a:p>
            <a:r>
              <a:rPr lang="hu-HU" sz="4000" b="1" dirty="0"/>
              <a:t>Thank you for your attention!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258360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DividendVTI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ED8428"/>
      </a:accent1>
      <a:accent2>
        <a:srgbClr val="E6C46D"/>
      </a:accent2>
      <a:accent3>
        <a:srgbClr val="537685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D1F84C-D1FD-4B1B-9CFD-8E0D96AC4D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00B2AC-C335-4100-B8B3-2D9F49A729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037C456-A6DA-4DEE-A3FB-4EC3058FD0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{98BBC29C-CBE0-40BB-AD8C-43FBD4C872DA}TF44327b14-72fa-4a42-8e82-8afcf10927fa9096c001_win32-283260f3ca19</Template>
  <TotalTime>884</TotalTime>
  <Words>222</Words>
  <Application>Microsoft Office PowerPoint</Application>
  <PresentationFormat>Widescreen</PresentationFormat>
  <Paragraphs>52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Gill Sans MT</vt:lpstr>
      <vt:lpstr>Wingdings</vt:lpstr>
      <vt:lpstr>Wingdings 2</vt:lpstr>
      <vt:lpstr>DividendVTI</vt:lpstr>
      <vt:lpstr>Information Leaks</vt:lpstr>
      <vt:lpstr>Agenda </vt:lpstr>
      <vt:lpstr>Types of information leaks</vt:lpstr>
      <vt:lpstr>Real-world examples</vt:lpstr>
      <vt:lpstr>Facebook-Cambridge Analytica leak</vt:lpstr>
      <vt:lpstr>Ethical responsibilities</vt:lpstr>
      <vt:lpstr>Prevention</vt:lpstr>
      <vt:lpstr>Thank you for your attention!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 Horváth</dc:creator>
  <cp:lastModifiedBy>Eliza Horváth</cp:lastModifiedBy>
  <cp:revision>1</cp:revision>
  <dcterms:created xsi:type="dcterms:W3CDTF">2025-12-07T22:16:22Z</dcterms:created>
  <dcterms:modified xsi:type="dcterms:W3CDTF">2025-12-08T13:00:41Z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